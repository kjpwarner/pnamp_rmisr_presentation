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2" r:id="rId8"/>
    <p:sldId id="263" r:id="rId9"/>
    <p:sldId id="264" r:id="rId10"/>
    <p:sldId id="265" r:id="rId11"/>
    <p:sldId id="261" r:id="rId12"/>
    <p:sldId id="260" r:id="rId13"/>
    <p:sldId id="269" r:id="rId14"/>
    <p:sldId id="270" r:id="rId15"/>
    <p:sldId id="266" r:id="rId16"/>
    <p:sldId id="267" r:id="rId17"/>
    <p:sldId id="259" r:id="rId18"/>
    <p:sldId id="271" r:id="rId19"/>
    <p:sldId id="273" r:id="rId20"/>
    <p:sldId id="274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C2527-1A75-4859-91CC-EFA35CB7276A}" v="29" dt="2026-01-12T22:13:07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869F6-75C4-7A45-BF8E-ECCCBDD37F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612C39-6E2B-0FD5-774D-C336263E6C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40CA62-AFDD-3AE5-F0D5-91B82108D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B131E-7221-1359-B9C8-FF1EA208A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F23C7-08C6-8131-B89F-F815C821E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703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BB044-C898-AFF4-3DB1-17427DB35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DFF7E-FB23-400D-98E4-423B0F533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DCC55-199B-244B-F3E3-1906ED3B6A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BADF1-0B28-620D-752D-697931DDA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EB49C-D141-6805-A113-A593404C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88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B1C2B-497B-2780-E2DA-9A6A94A7A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0783D1-798E-6B4A-AAF9-70340CABF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B3B74-98C5-8C74-8B7B-F7CADA8E4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32817-61BF-3628-C60A-981F22575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4366B-AE57-6DD1-9105-137AD2052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00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9F16-0144-B22F-F469-1B2217ED4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6043C-9E57-1BD0-4604-BEF09C39A3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54B25-2B13-66B2-C114-345B820ACB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C1B4A4-70C0-3B84-6448-E9461315E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A28EFE-C488-3845-C706-EC17978C8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720D9D-285E-F2B3-84E1-CC9CADE2A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9186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EB9F2-1EBF-2F6B-AB48-B50200A2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E814C-D802-097E-CE04-1252BD05EF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F1817-0606-62BD-7404-A7485E1BEF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11AE0-2DB8-155C-696B-219F12F9A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FE428C-FE41-5C2C-FCCC-73BF4B2C36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7D82AE-C623-8338-053C-B7E53DCA1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A13F77-6661-819D-2B2E-C726EB937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9B9766-6208-1AA9-DD96-F4F306D32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3630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972A-FD48-6665-F38C-A41AB152BB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811C92-BD7E-B319-8109-D5819E3C0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293DD-C6D5-AE19-1F9D-A326955EA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1590F1-0498-5293-E364-8A170F533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8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4E9151-A9F0-847D-4146-19BB8AA5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EDF27B-175F-7C7B-B371-B009A09B0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631298-0190-7772-BE03-0790A77F2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082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4C688-AAA1-0F3C-4D32-9F5567C8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1AE89-6084-08F8-B7E8-658B7D5CF1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AF671-A973-7104-CAAA-1BC7927F1E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9DAAA-180F-BAF0-56D1-E3C2EA8ED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43E43-0303-CF59-E824-12E6D7CFF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C2179B-3E35-7A00-5C4A-ABE9BECE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717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EE261-0439-29CC-A2DB-C425D689B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424BE-480A-1C38-AED6-665B60E6E1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1F24B2-E002-A284-8F06-DBD0732823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C1CAD-5A8F-312B-027A-408B213A7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FA3FAB-84B2-2BEF-8710-5A61597B6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55357-F0B9-74D6-286E-8B179A46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62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DB6EF-0A4D-08DB-95F4-5A67F6962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BB557-A2C1-43B7-F0F4-AD8E2470E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00E8B-88BE-2C9E-BA5C-AE78F3C9B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3B218-54F0-B1BB-C2C0-3AABF86FB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8F253-A476-E90A-47AD-EA712AE3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11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0C601-3428-96FD-42C8-7805A99AE9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F2A622-1AAA-06CE-B88F-E0B7DF44A9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03434-0304-801D-9CD0-F18BE5C9F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5D776-91BC-9801-90FD-41DDEAC33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61E12-4234-EFB2-DCBC-E7E6C1567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61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B22E9E-035B-DADD-3C96-A49D9E4BC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BEA8D-424E-7723-B4CD-990607717E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41D95-72D8-642D-E87A-732039F4F4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52A307-43BD-410C-8207-24F20256708F}" type="datetimeFigureOut">
              <a:rPr lang="en-US" smtClean="0"/>
              <a:t>1/12/2026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EE60C-846D-0DAE-C9B6-4D706BA1C3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B8A43-8158-A61A-C5A8-7F307A0BD9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05BE7-1BF6-4E60-B0A8-55EDA60A39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529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KJPWarner/pnamp_rmisr_presentation" TargetMode="External"/><Relationship Id="rId2" Type="http://schemas.openxmlformats.org/officeDocument/2006/relationships/hyperlink" Target="https://www.rmpc.org/wp-content/uploads/2023/11/Specification-V4.2-2023-12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55A3-9010-4167-D08C-36F172843F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449901"/>
            <a:ext cx="9144000" cy="1060061"/>
          </a:xfrm>
        </p:spPr>
        <p:txBody>
          <a:bodyPr/>
          <a:lstStyle/>
          <a:p>
            <a:r>
              <a:rPr lang="en-US" dirty="0"/>
              <a:t>R packages and RMIS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B31-01D2-F2FF-DDEA-DA0AECC875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60061"/>
          </a:xfrm>
        </p:spPr>
        <p:txBody>
          <a:bodyPr/>
          <a:lstStyle/>
          <a:p>
            <a:r>
              <a:rPr lang="en-US" dirty="0"/>
              <a:t>Kristopher Warner- WDFW</a:t>
            </a:r>
          </a:p>
          <a:p>
            <a:r>
              <a:rPr lang="en-US" dirty="0"/>
              <a:t>PNAMP fish monitoring workgroup</a:t>
            </a:r>
          </a:p>
        </p:txBody>
      </p:sp>
    </p:spTree>
    <p:extLst>
      <p:ext uri="{BB962C8B-B14F-4D97-AF65-F5344CB8AC3E}">
        <p14:creationId xmlns:p14="http://schemas.microsoft.com/office/powerpoint/2010/main" val="40980853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41E08C-8CDC-7431-4C23-60AF80893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Outline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C2DB1-91ED-5206-4787-57F220086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400" dirty="0"/>
              <a:t>RMIS data overview</a:t>
            </a:r>
          </a:p>
          <a:p>
            <a:r>
              <a:rPr lang="en-US" sz="2400" dirty="0"/>
              <a:t>Workflow/limitations through the UI</a:t>
            </a:r>
          </a:p>
          <a:p>
            <a:r>
              <a:rPr lang="en-US" sz="2400" dirty="0"/>
              <a:t>Advantages of an API</a:t>
            </a:r>
            <a:endParaRPr lang="en-US" sz="2000" dirty="0"/>
          </a:p>
          <a:p>
            <a:r>
              <a:rPr lang="en-US" sz="2400" dirty="0"/>
              <a:t>Historic workarounds</a:t>
            </a:r>
            <a:endParaRPr lang="en-US" sz="2000" dirty="0"/>
          </a:p>
          <a:p>
            <a:r>
              <a:rPr lang="en-US" sz="2400" dirty="0"/>
              <a:t>Packages in development- </a:t>
            </a:r>
            <a:r>
              <a:rPr lang="en-US" sz="2400" dirty="0" err="1"/>
              <a:t>rmisr</a:t>
            </a:r>
            <a:r>
              <a:rPr lang="en-US" sz="2400" dirty="0"/>
              <a:t> and </a:t>
            </a:r>
            <a:r>
              <a:rPr lang="en-US" sz="2400" dirty="0" err="1"/>
              <a:t>rrmis</a:t>
            </a:r>
            <a:endParaRPr lang="en-US" sz="2400" dirty="0"/>
          </a:p>
          <a:p>
            <a:r>
              <a:rPr lang="en-US" sz="2400" dirty="0"/>
              <a:t>Example use- </a:t>
            </a:r>
            <a:r>
              <a:rPr lang="en-US" sz="2400" dirty="0" err="1"/>
              <a:t>rmisr</a:t>
            </a:r>
            <a:endParaRPr lang="en-US" sz="2400" dirty="0"/>
          </a:p>
          <a:p>
            <a:r>
              <a:rPr lang="en-US" sz="2400" dirty="0"/>
              <a:t>Closing thoughts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53467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F8979-991F-EC82-8D87-BBD7A52A9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RMIS data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F2429-8E05-E286-989B-D533D8037F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Pacific states marine fisheries commission’s centralized database for multi-agency records on fish releases (both hatchery and wild-tagged) and recoveries</a:t>
            </a:r>
          </a:p>
          <a:p>
            <a:r>
              <a:rPr lang="en-US" dirty="0"/>
              <a:t>In hatcheries, largely serves as a centralized database for retrieving production/recovery records</a:t>
            </a:r>
          </a:p>
        </p:txBody>
      </p:sp>
    </p:spTree>
    <p:extLst>
      <p:ext uri="{BB962C8B-B14F-4D97-AF65-F5344CB8AC3E}">
        <p14:creationId xmlns:p14="http://schemas.microsoft.com/office/powerpoint/2010/main" val="232117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288C6B4-AFC3-407F-A595-EFFD38D4CC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F236821-17FE-429B-8D2C-08E13A64EA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C0BDBCD2-E081-43AB-9119-C55465E59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81356B-E23F-6C23-B2FE-77D00AFA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239012"/>
          </a:xfrm>
        </p:spPr>
        <p:txBody>
          <a:bodyPr anchor="ctr">
            <a:normAutofit/>
          </a:bodyPr>
          <a:lstStyle/>
          <a:p>
            <a:r>
              <a:rPr lang="en-US" sz="2800" dirty="0"/>
              <a:t>GUI workflows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426546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5893" y="2443480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6B20C-DF43-E5B2-0E50-94861B6FD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en-US" sz="1700" dirty="0"/>
              <a:t>RMIS </a:t>
            </a:r>
            <a:r>
              <a:rPr lang="en-US" sz="1700" dirty="0" err="1"/>
              <a:t>gui</a:t>
            </a:r>
            <a:r>
              <a:rPr lang="en-US" sz="1700" dirty="0"/>
              <a:t> allows for retrieving data in a variety of formats, most often in .csv</a:t>
            </a:r>
          </a:p>
          <a:p>
            <a:r>
              <a:rPr lang="en-US" sz="1700" dirty="0"/>
              <a:t>Pros- relatively intuitive, buttons are fun to press, robust for small data sets</a:t>
            </a:r>
          </a:p>
          <a:p>
            <a:r>
              <a:rPr lang="en-US" sz="1700" dirty="0"/>
              <a:t>Cons- limited by size of query, difficult to reproduce, prone to mechanical error, management of csv files can be onerous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2D65D7-52D8-50F3-D94F-B12D975103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8750" y="506301"/>
            <a:ext cx="6922008" cy="39109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092B52-E98F-C0AB-23AE-38B10CEE38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9893" y="4636960"/>
            <a:ext cx="4726151" cy="20400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6151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58000-40DB-CFE0-4D76-673E4AFA3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API access and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7CE0E-DB78-EFD3-B6C3-12E644E86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15075" cy="4351338"/>
          </a:xfrm>
        </p:spPr>
        <p:txBody>
          <a:bodyPr/>
          <a:lstStyle/>
          <a:p>
            <a:r>
              <a:rPr lang="en-US" dirty="0"/>
              <a:t>Pros- can handle much larger queries, can be scripted using R, queries are easy to share/replicate</a:t>
            </a:r>
          </a:p>
          <a:p>
            <a:r>
              <a:rPr lang="en-US" dirty="0"/>
              <a:t>API in early development, missing fields, larger barrier to entry for data retrieval</a:t>
            </a:r>
          </a:p>
          <a:p>
            <a:r>
              <a:rPr lang="en-US" dirty="0"/>
              <a:t>RMIS’ data structure has useful data stored in disparate tables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CD8E71-330C-5C0E-BC44-8F00BFB69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513" y="2571750"/>
            <a:ext cx="3878287" cy="300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67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24DC7-DA5F-E284-3E21-4345791F9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Historic workarounds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80A702-08AE-D3EC-21ED-8B579FF92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03475" cy="4351338"/>
          </a:xfrm>
        </p:spPr>
        <p:txBody>
          <a:bodyPr/>
          <a:lstStyle/>
          <a:p>
            <a:r>
              <a:rPr lang="en-US" dirty="0"/>
              <a:t>Elegant, but “brute-force”</a:t>
            </a:r>
          </a:p>
          <a:p>
            <a:r>
              <a:rPr lang="en-US" dirty="0"/>
              <a:t>Mirrored databases, index fetching</a:t>
            </a:r>
          </a:p>
          <a:p>
            <a:r>
              <a:rPr lang="en-US" dirty="0"/>
              <a:t>Allowed for scripted workflows, but memory intensive and required secondary stewarding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40991E-1BEB-C29F-4B91-160C6799C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335" y="600075"/>
            <a:ext cx="3629025" cy="1714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5E4759-89DC-924D-72BC-FFABF0644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7960"/>
          <a:stretch/>
        </p:blipFill>
        <p:spPr>
          <a:xfrm>
            <a:off x="7500335" y="2549525"/>
            <a:ext cx="4200313" cy="42215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89774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AFDEB-CA26-59B2-8F19-19C62AA0B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Packages in development- </a:t>
            </a:r>
            <a:r>
              <a:rPr lang="en-US" dirty="0" err="1"/>
              <a:t>rmisr</a:t>
            </a:r>
            <a:r>
              <a:rPr lang="en-US" dirty="0"/>
              <a:t> and </a:t>
            </a:r>
            <a:r>
              <a:rPr lang="en-US" dirty="0" err="1"/>
              <a:t>rrmis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6E4BACF-D615-CA04-F099-9C1302ACBF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891248"/>
              </p:ext>
            </p:extLst>
          </p:nvPr>
        </p:nvGraphicFramePr>
        <p:xfrm>
          <a:off x="1511060" y="1983151"/>
          <a:ext cx="9169880" cy="30482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84940">
                  <a:extLst>
                    <a:ext uri="{9D8B030D-6E8A-4147-A177-3AD203B41FA5}">
                      <a16:colId xmlns:a16="http://schemas.microsoft.com/office/drawing/2014/main" val="3211984047"/>
                    </a:ext>
                  </a:extLst>
                </a:gridCol>
                <a:gridCol w="4584940">
                  <a:extLst>
                    <a:ext uri="{9D8B030D-6E8A-4147-A177-3AD203B41FA5}">
                      <a16:colId xmlns:a16="http://schemas.microsoft.com/office/drawing/2014/main" val="2209901782"/>
                    </a:ext>
                  </a:extLst>
                </a:gridCol>
              </a:tblGrid>
              <a:tr h="561814">
                <a:tc>
                  <a:txBody>
                    <a:bodyPr/>
                    <a:lstStyle/>
                    <a:p>
                      <a:r>
                        <a:rPr lang="en-US" dirty="0" err="1"/>
                        <a:t>rmisr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rrmis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895668"/>
                  </a:ext>
                </a:extLst>
              </a:tr>
              <a:tr h="5618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Retrieval directly from </a:t>
                      </a:r>
                      <a:r>
                        <a:rPr lang="en-US" dirty="0" err="1"/>
                        <a:t>api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Fetches from data index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083171"/>
                  </a:ext>
                </a:extLst>
              </a:tr>
              <a:tr h="64444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Light on memory, heavy on 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Heavy on memory, optimized processing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3732012"/>
                  </a:ext>
                </a:extLst>
              </a:tr>
              <a:tr h="5618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Requires stable 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Requires stable connection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5598977"/>
                  </a:ext>
                </a:extLst>
              </a:tr>
              <a:tr h="56181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Lacks QoL helper functions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Has helper functions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1881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3010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80456-BDE8-C15F-5594-4125A72C2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walkthrough- </a:t>
            </a:r>
            <a:r>
              <a:rPr lang="en-US" dirty="0" err="1"/>
              <a:t>rmisr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45A6A-381E-58D9-CF8F-CE364A261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168442" cy="4351338"/>
          </a:xfrm>
        </p:spPr>
        <p:txBody>
          <a:bodyPr/>
          <a:lstStyle/>
          <a:p>
            <a:r>
              <a:rPr lang="en-US" dirty="0"/>
              <a:t>Load necessary packages, reference your API-key, and run a retrieval function- I start with locations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0197EF-8A87-3526-8B89-EE353E77B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184" y="5712734"/>
            <a:ext cx="3896269" cy="6668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0C48ECB-000D-512E-3EBD-DF6F8E1BCC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84" y="2933248"/>
            <a:ext cx="8611802" cy="8097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2860ED0-E85C-107F-CCA5-33988F0679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184" y="3742986"/>
            <a:ext cx="11336332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8013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A6AB87-646A-CD8C-DD2B-640931E9D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4112514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Example walkthrough-cont’d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1B164-E8F8-8321-2321-D5DE67198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5" y="2807208"/>
            <a:ext cx="4036315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Location data can function as a start for informed queries</a:t>
            </a:r>
          </a:p>
          <a:p>
            <a:pPr lvl="1"/>
            <a:r>
              <a:rPr lang="en-US" sz="2200" dirty="0"/>
              <a:t>All of the “</a:t>
            </a:r>
            <a:r>
              <a:rPr lang="en-US" sz="2200" dirty="0" err="1"/>
              <a:t>location_type”s</a:t>
            </a:r>
            <a:endParaRPr lang="en-US" sz="2200" dirty="0"/>
          </a:p>
          <a:p>
            <a:r>
              <a:rPr lang="en-US" sz="2200" dirty="0"/>
              <a:t>We can use the location data as lookup tables- in this snippet it’s hatchery locations (location type 3)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455348-9C91-5BC0-3004-0506AAE54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8067" y="1333075"/>
            <a:ext cx="6861254" cy="3153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2F350E3-47E8-9F63-0137-D8FC825801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8066" y="4843347"/>
            <a:ext cx="6775805" cy="1062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47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C69422-96DE-C082-CC35-A6C06B3D6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E6CA451-CBA1-5396-235F-05DF6ABC4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AE9A30-9A4F-87B4-3B8E-5669827D2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Example walkthrough-parameters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3DC7E504-D5CA-0BDD-DBE3-232DC42F0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286C4-DC94-B8D4-DE27-4391A758FB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Location data can function as a start for informed queries</a:t>
            </a:r>
          </a:p>
          <a:p>
            <a:pPr lvl="1"/>
            <a:r>
              <a:rPr lang="en-US" sz="2200" dirty="0"/>
              <a:t>All of the “</a:t>
            </a:r>
            <a:r>
              <a:rPr lang="en-US" sz="2200" dirty="0" err="1"/>
              <a:t>location_type”s</a:t>
            </a:r>
            <a:endParaRPr lang="en-US" sz="2200" dirty="0"/>
          </a:p>
          <a:p>
            <a:r>
              <a:rPr lang="en-US" sz="2200" dirty="0"/>
              <a:t>Set up loops to query in series to handle larger datasets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95D6A0C-BF8B-2A30-8E50-2149FF7EF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428" y="1786991"/>
            <a:ext cx="6132401" cy="328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307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978437-ABD3-C922-7505-926B8BE7F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5E1E36D-D8BD-BA38-2E45-FF1ADD3AA9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BC49BB-BDE0-F04E-2A6B-B73B32E8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3800" dirty="0"/>
              <a:t>Example walkthrough-data-get loop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E0492F39-7000-4C1C-E99F-D1D572EB6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283C4-36A7-B506-0FF2-D9105E3C8F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r>
              <a:rPr lang="en-US" sz="2200" dirty="0"/>
              <a:t>Parameters on previous slide are passed in a loop of the </a:t>
            </a:r>
            <a:r>
              <a:rPr lang="en-US" sz="2200" dirty="0" err="1"/>
              <a:t>get_release</a:t>
            </a:r>
            <a:r>
              <a:rPr lang="en-US" sz="2200" dirty="0"/>
              <a:t>() function</a:t>
            </a:r>
          </a:p>
          <a:p>
            <a:r>
              <a:rPr lang="en-US" sz="2200" dirty="0"/>
              <a:t>Loops allow us to query larger data sets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DEFD2D5-F311-88F2-C242-CE4D0624E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823" y="639520"/>
            <a:ext cx="6335899" cy="435115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5D1FEE-F69B-0C39-261C-DCDEDBE2AB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439295"/>
            <a:ext cx="12192000" cy="1398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4457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AF5A9-8934-0C7B-812F-40176827E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FCD11-7302-C5B4-F6C8-357E76026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walkthrough-cont’d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CEDBA-B9FA-02A5-4D05-E4AB4710E3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5015" cy="4351338"/>
          </a:xfrm>
        </p:spPr>
        <p:txBody>
          <a:bodyPr/>
          <a:lstStyle/>
          <a:p>
            <a:r>
              <a:rPr lang="en-US" dirty="0"/>
              <a:t>Loops will iterate based on the number of permutations of the inputs</a:t>
            </a:r>
          </a:p>
          <a:p>
            <a:pPr lvl="1"/>
            <a:r>
              <a:rPr lang="en-US" dirty="0"/>
              <a:t>Can be time intensive if there’s too many permutations</a:t>
            </a:r>
          </a:p>
          <a:p>
            <a:pPr lvl="1"/>
            <a:r>
              <a:rPr lang="en-US" dirty="0"/>
              <a:t>Opportunity for optimization here, using common fields to cut down on the number of iterations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C694B6-0F9C-B3B3-9E7A-A631D1AC8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1109" y="1957896"/>
            <a:ext cx="6020640" cy="408679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5048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ADDD3-5528-BCDF-E835-CBBD16D01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walkthrough- cont’d, cleanup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8DBF4-B4CA-EEFE-CB23-DED1A9ED8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helper functions currently part of the package, requires manual cleanup to get to a cohesive dataset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6F2317-E501-6AE9-6376-8CE1F1C370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768869"/>
            <a:ext cx="10515600" cy="38319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4829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C06D9EE-82BB-E4C6-C6B4-031832A5A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385" y="0"/>
            <a:ext cx="847772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C660743-2FB8-B07B-B970-7B5848981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343525" cy="1282700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Summarize/visualize</a:t>
            </a:r>
            <a:br>
              <a:rPr lang="en-US" dirty="0"/>
            </a:br>
            <a:r>
              <a:rPr lang="en-US" dirty="0"/>
              <a:t>the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0214D-BC8C-5DC5-1C3F-2872BDB4C5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11300"/>
            <a:ext cx="3924300" cy="4351338"/>
          </a:xfrm>
        </p:spPr>
        <p:txBody>
          <a:bodyPr/>
          <a:lstStyle/>
          <a:p>
            <a:r>
              <a:rPr lang="en-US" dirty="0"/>
              <a:t>We can now use graphics packages (</a:t>
            </a:r>
            <a:r>
              <a:rPr lang="en-US" dirty="0" err="1"/>
              <a:t>ggplot</a:t>
            </a:r>
            <a:r>
              <a:rPr lang="en-US" dirty="0"/>
              <a:t>, </a:t>
            </a:r>
            <a:r>
              <a:rPr lang="en-US" dirty="0" err="1"/>
              <a:t>plotly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 to visualize the result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A76F3535-1AE7-095D-FF8D-2ADCE0F8B10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2152650" cy="2152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4454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23B90-8476-BDE2-30D3-8CF50FDE7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27000"/>
            <a:ext cx="6096000" cy="1325563"/>
          </a:xfrm>
        </p:spPr>
        <p:txBody>
          <a:bodyPr/>
          <a:lstStyle/>
          <a:p>
            <a:r>
              <a:rPr lang="en-US" dirty="0"/>
              <a:t>Application- comparative hatchery performance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939406-B432-4099-EA36-97D5215B5E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676" y="1518468"/>
            <a:ext cx="11156647" cy="5212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473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E1E41-212E-C192-F91F-CF218320D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606E0-A8F8-1E55-D2D4-57C70CF75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27000"/>
            <a:ext cx="6096000" cy="1325563"/>
          </a:xfrm>
        </p:spPr>
        <p:txBody>
          <a:bodyPr/>
          <a:lstStyle/>
          <a:p>
            <a:r>
              <a:rPr lang="en-US" dirty="0"/>
              <a:t>Application- comparative hatchery performance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B9522F-4630-92C4-7276-5C1AD4D30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1082"/>
            <a:ext cx="8266892" cy="5236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0494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9E054-3399-01CA-5A27-D816FCF22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9CD945-11A9-7F2A-1F91-723151D74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2109"/>
            <a:ext cx="8266209" cy="523589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8B89C5-DB32-D0AC-FEBA-7297E1427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27000"/>
            <a:ext cx="6096000" cy="1325563"/>
          </a:xfrm>
        </p:spPr>
        <p:txBody>
          <a:bodyPr/>
          <a:lstStyle/>
          <a:p>
            <a:r>
              <a:rPr lang="en-US" dirty="0"/>
              <a:t>Application- comparative hatchery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D90A86-349C-CDA6-7A10-C4DD2F8B3F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2203" y="1622109"/>
            <a:ext cx="9883892" cy="5235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725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486B-8BB6-047E-1CD7-C48DDB7E4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Questions/resources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E32E9-C807-BC85-AE5F-B0A929757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RMIS Data Specification document:</a:t>
            </a:r>
          </a:p>
          <a:p>
            <a:pPr lvl="1"/>
            <a:r>
              <a:rPr lang="en-US" dirty="0">
                <a:hlinkClick r:id="rId2"/>
              </a:rPr>
              <a:t>Specification-V4.2-2023-12.pdf</a:t>
            </a:r>
            <a:endParaRPr lang="en-US" dirty="0"/>
          </a:p>
          <a:p>
            <a:r>
              <a:rPr lang="en-US" dirty="0"/>
              <a:t>Link to script shown in presentation:</a:t>
            </a:r>
          </a:p>
          <a:p>
            <a:pPr lvl="1"/>
            <a:r>
              <a:rPr lang="en-US" dirty="0" err="1">
                <a:hlinkClick r:id="rId3"/>
              </a:rPr>
              <a:t>KJPWarner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pnamp_rmisr_presentation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5690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163746B8FB7948B3C0621031CB29E1" ma:contentTypeVersion="18" ma:contentTypeDescription="Create a new document." ma:contentTypeScope="" ma:versionID="e2a3a201b346363996db224df8348c2b">
  <xsd:schema xmlns:xsd="http://www.w3.org/2001/XMLSchema" xmlns:xs="http://www.w3.org/2001/XMLSchema" xmlns:p="http://schemas.microsoft.com/office/2006/metadata/properties" xmlns:ns1="http://schemas.microsoft.com/sharepoint/v3" xmlns:ns3="9d9be70c-ba6e-4738-b913-656e6facf299" xmlns:ns4="ca1357e6-88f1-4f36-8139-b18513db6305" targetNamespace="http://schemas.microsoft.com/office/2006/metadata/properties" ma:root="true" ma:fieldsID="2ad3bac9d3c74114b8d704870acc5904" ns1:_="" ns3:_="" ns4:_="">
    <xsd:import namespace="http://schemas.microsoft.com/sharepoint/v3"/>
    <xsd:import namespace="9d9be70c-ba6e-4738-b913-656e6facf299"/>
    <xsd:import namespace="ca1357e6-88f1-4f36-8139-b18513db63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1:_ip_UnifiedCompliancePolicyProperties" minOccurs="0"/>
                <xsd:element ref="ns1:_ip_UnifiedCompliancePolicyUIAction" minOccurs="0"/>
                <xsd:element ref="ns3:MediaServiceDateTaken" minOccurs="0"/>
                <xsd:element ref="ns3:MediaServiceLocation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9be70c-ba6e-4738-b913-656e6facf29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dexed="true" ma:internalName="MediaServiceLocation" ma:readOnly="true">
      <xsd:simpleType>
        <xsd:restriction base="dms:Text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1357e6-88f1-4f36-8139-b18513db6305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activity xmlns="9d9be70c-ba6e-4738-b913-656e6facf299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786B7F09-1B20-4758-8209-8377155AB8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d9be70c-ba6e-4738-b913-656e6facf299"/>
    <ds:schemaRef ds:uri="ca1357e6-88f1-4f36-8139-b18513db63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430C4DD-F915-49AE-AA10-5E37E3B40E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AFAEAEF-9636-47AD-87D1-75D1930E0BEA}">
  <ds:schemaRefs>
    <ds:schemaRef ds:uri="http://purl.org/dc/terms/"/>
    <ds:schemaRef ds:uri="http://schemas.openxmlformats.org/package/2006/metadata/core-properties"/>
    <ds:schemaRef ds:uri="http://www.w3.org/XML/1998/namespace"/>
    <ds:schemaRef ds:uri="9d9be70c-ba6e-4738-b913-656e6facf299"/>
    <ds:schemaRef ds:uri="http://schemas.microsoft.com/office/2006/documentManagement/types"/>
    <ds:schemaRef ds:uri="http://schemas.microsoft.com/office/infopath/2007/PartnerControls"/>
    <ds:schemaRef ds:uri="http://purl.org/dc/dcmitype/"/>
    <ds:schemaRef ds:uri="ca1357e6-88f1-4f36-8139-b18513db6305"/>
    <ds:schemaRef ds:uri="http://schemas.microsoft.com/sharepoint/v3"/>
    <ds:schemaRef ds:uri="http://schemas.microsoft.com/office/2006/metadata/properties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45011977-b912-4387-97a4-f4c94a801377}" enabled="1" method="Standard" siteId="{11d0e217-264e-400a-8ba0-57dcc127d72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30737</TotalTime>
  <Words>494</Words>
  <Application>Microsoft Office PowerPoint</Application>
  <PresentationFormat>Widescreen</PresentationFormat>
  <Paragraphs>66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Calibri</vt:lpstr>
      <vt:lpstr>Office Theme</vt:lpstr>
      <vt:lpstr>R packages and RMIS data</vt:lpstr>
      <vt:lpstr>Outline</vt:lpstr>
      <vt:lpstr>RMIS data overview</vt:lpstr>
      <vt:lpstr>GUI workflows</vt:lpstr>
      <vt:lpstr>API access and R</vt:lpstr>
      <vt:lpstr>Historic workarounds</vt:lpstr>
      <vt:lpstr>Packages in development- rmisr and rrmis</vt:lpstr>
      <vt:lpstr>Example walkthrough- rmisr</vt:lpstr>
      <vt:lpstr>Example walkthrough-cont’d</vt:lpstr>
      <vt:lpstr>Example walkthrough-parameters</vt:lpstr>
      <vt:lpstr>Example walkthrough-data-get loop</vt:lpstr>
      <vt:lpstr>Example walkthrough-cont’d</vt:lpstr>
      <vt:lpstr>Example walkthrough- cont’d, cleanup</vt:lpstr>
      <vt:lpstr>Summarize/visualize the result</vt:lpstr>
      <vt:lpstr>Application- comparative hatchery performance</vt:lpstr>
      <vt:lpstr>Application- comparative hatchery performance</vt:lpstr>
      <vt:lpstr>Application- comparative hatchery performance</vt:lpstr>
      <vt:lpstr>Questions/resources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Warner, Kristopher J (DFW)</dc:creator>
  <cp:lastModifiedBy>Warner, Kristopher J (DFW)</cp:lastModifiedBy>
  <cp:revision>2</cp:revision>
  <dcterms:created xsi:type="dcterms:W3CDTF">2025-12-18T23:03:40Z</dcterms:created>
  <dcterms:modified xsi:type="dcterms:W3CDTF">2026-01-12T22:13:07Z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0x01010082163746B8FB7948B3C0621031CB29E1</vt:lpwstr>
  </property>
</Properties>
</file>